
<file path=[Content_Types].xml><?xml version="1.0" encoding="utf-8"?>
<Types xmlns="http://schemas.openxmlformats.org/package/2006/content-types">
  <Default Extension="xml" ContentType="application/xml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 autoCompressPictures="0">
  <p:sldMasterIdLst>
    <p:sldMasterId id="2147483660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258" r:id="rId4"/>
    <p:sldId id="259" r:id="rId5"/>
    <p:sldId id="269" r:id="rId6"/>
    <p:sldId id="261" r:id="rId7"/>
    <p:sldId id="262" r:id="rId8"/>
    <p:sldId id="270" r:id="rId9"/>
    <p:sldId id="266" r:id="rId10"/>
    <p:sldId id="271" r:id="rId11"/>
    <p:sldId id="272" r:id="rId12"/>
    <p:sldId id="268" r:id="rId1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A2D5FA2E-22A6-4E4B-B826-FBA00FA3E98D}">
  <a:tblStyle styleId="{A2D5FA2E-22A6-4E4B-B826-FBA00FA3E98D}" styleName="Table_0">
    <a:wholeTbl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0" d="100"/>
          <a:sy n="120" d="100"/>
        </p:scale>
        <p:origin x="-1312" y="-1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B1C49-489A-3C46-B472-8283F688C28F}" type="datetimeFigureOut">
              <a:rPr lang="en-US" smtClean="0"/>
              <a:t>4/18/16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70181B-B307-FF42-BA0F-C267588C70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880234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/>
          <a:lstStyle>
            <a:lvl1pPr lvl="0">
              <a:spcBef>
                <a:spcPts val="0"/>
              </a:spcBef>
              <a:defRPr sz="1100"/>
            </a:lvl1pPr>
            <a:lvl2pPr lvl="1">
              <a:spcBef>
                <a:spcPts val="0"/>
              </a:spcBef>
              <a:defRPr sz="1100"/>
            </a:lvl2pPr>
            <a:lvl3pPr lvl="2">
              <a:spcBef>
                <a:spcPts val="0"/>
              </a:spcBef>
              <a:defRPr sz="1100"/>
            </a:lvl3pPr>
            <a:lvl4pPr lvl="3">
              <a:spcBef>
                <a:spcPts val="0"/>
              </a:spcBef>
              <a:defRPr sz="1100"/>
            </a:lvl4pPr>
            <a:lvl5pPr lvl="4">
              <a:spcBef>
                <a:spcPts val="0"/>
              </a:spcBef>
              <a:defRPr sz="1100"/>
            </a:lvl5pPr>
            <a:lvl6pPr lvl="5">
              <a:spcBef>
                <a:spcPts val="0"/>
              </a:spcBef>
              <a:defRPr sz="1100"/>
            </a:lvl6pPr>
            <a:lvl7pPr lvl="6">
              <a:spcBef>
                <a:spcPts val="0"/>
              </a:spcBef>
              <a:defRPr sz="1100"/>
            </a:lvl7pPr>
            <a:lvl8pPr lvl="7">
              <a:spcBef>
                <a:spcPts val="0"/>
              </a:spcBef>
              <a:defRPr sz="1100"/>
            </a:lvl8pPr>
            <a:lvl9pPr lvl="8">
              <a:spcBef>
                <a:spcPts val="0"/>
              </a:spcBef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2301000"/>
      </p:ext>
    </p:extLst>
  </p:cSld>
  <p:clrMap bg1="lt1" tx1="dk1" bg2="dk2" tx2="lt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Shape 7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Shape 8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Shape 13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7" descr="titlepage_2_foo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69026"/>
            <a:ext cx="9145588" cy="688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Arial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Arial" pitchFamily="-110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Arial" charset="0"/>
                <a:ea typeface="Osaka" pitchFamily="-110" charset="-128"/>
              </a:defRPr>
            </a:lvl1pPr>
          </a:lstStyle>
          <a:p>
            <a:pPr lvl="0" algn="r" rtl="0">
              <a:spcBef>
                <a:spcPts val="0"/>
              </a:spcBef>
              <a:buNone/>
            </a:pPr>
            <a:fld id="{00000000-1234-1234-1234-123412341234}" type="slidenum">
              <a:rPr lang="en" sz="1000" smtClean="0">
                <a:solidFill>
                  <a:schemeClr val="dk2"/>
                </a:solidFill>
              </a:rPr>
              <a:t>‹#›</a:t>
            </a:fld>
            <a:endParaRPr lang="en" sz="100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07231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horz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925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1"/>
            <a:ext cx="7772400" cy="1362075"/>
          </a:xfrm>
          <a:prstGeom prst="rect">
            <a:avLst/>
          </a:prstGeom>
        </p:spPr>
        <p:txBody>
          <a:bodyPr vert="horz"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703522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  <a:prstGeom prst="rect">
            <a:avLst/>
          </a:prstGeom>
        </p:spPr>
        <p:txBody>
          <a:bodyPr vert="horz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54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3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3"/>
          </a:xfrm>
          <a:prstGeom prst="rect">
            <a:avLst/>
          </a:prstGeom>
        </p:spPr>
        <p:txBody>
          <a:bodyPr vert="horz"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</p:spPr>
        <p:txBody>
          <a:bodyPr vert="horz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05340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5776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3165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73049"/>
            <a:ext cx="3008313" cy="1162051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  <a:prstGeom prst="rect">
            <a:avLst/>
          </a:prstGeom>
        </p:spPr>
        <p:txBody>
          <a:bodyPr vert="horz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435102"/>
            <a:ext cx="3008313" cy="46910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939454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9"/>
          </a:xfrm>
          <a:prstGeom prst="rect">
            <a:avLst/>
          </a:prstGeom>
        </p:spPr>
        <p:txBody>
          <a:bodyPr vert="horz"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3"/>
          </a:xfrm>
          <a:prstGeom prst="rect">
            <a:avLst/>
          </a:prstGeom>
        </p:spPr>
        <p:txBody>
          <a:bodyPr vert="horz"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97615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1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7208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76474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800"/>
          </a:xfrm>
          <a:prstGeom prst="rect">
            <a:avLst/>
          </a:prstGeom>
        </p:spPr>
        <p:txBody>
          <a:bodyPr lIns="91425" tIns="91425" rIns="91425" bIns="91425" anchor="b" anchorCtr="0"/>
          <a:lstStyle>
            <a:lvl1pPr lvl="0" algn="ctr" rtl="0">
              <a:spcBef>
                <a:spcPts val="0"/>
              </a:spcBef>
              <a:buSzPct val="100000"/>
              <a:defRPr sz="5200"/>
            </a:lvl1pPr>
            <a:lvl2pPr lvl="1" algn="ctr" rtl="0">
              <a:spcBef>
                <a:spcPts val="0"/>
              </a:spcBef>
              <a:buSzPct val="100000"/>
              <a:defRPr sz="5200"/>
            </a:lvl2pPr>
            <a:lvl3pPr lvl="2" algn="ctr" rtl="0">
              <a:spcBef>
                <a:spcPts val="0"/>
              </a:spcBef>
              <a:buSzPct val="100000"/>
              <a:defRPr sz="5200"/>
            </a:lvl3pPr>
            <a:lvl4pPr lvl="3" algn="ctr" rtl="0">
              <a:spcBef>
                <a:spcPts val="0"/>
              </a:spcBef>
              <a:buSzPct val="100000"/>
              <a:defRPr sz="5200"/>
            </a:lvl4pPr>
            <a:lvl5pPr lvl="4" algn="ctr" rtl="0">
              <a:spcBef>
                <a:spcPts val="0"/>
              </a:spcBef>
              <a:buSzPct val="100000"/>
              <a:defRPr sz="5200"/>
            </a:lvl5pPr>
            <a:lvl6pPr lvl="5" algn="ctr" rtl="0">
              <a:spcBef>
                <a:spcPts val="0"/>
              </a:spcBef>
              <a:buSzPct val="100000"/>
              <a:defRPr sz="5200"/>
            </a:lvl6pPr>
            <a:lvl7pPr lvl="6" algn="ctr" rtl="0">
              <a:spcBef>
                <a:spcPts val="0"/>
              </a:spcBef>
              <a:buSzPct val="100000"/>
              <a:defRPr sz="5200"/>
            </a:lvl7pPr>
            <a:lvl8pPr lvl="7" algn="ctr" rtl="0">
              <a:spcBef>
                <a:spcPts val="0"/>
              </a:spcBef>
              <a:buSzPct val="100000"/>
              <a:defRPr sz="5200"/>
            </a:lvl8pPr>
            <a:lvl9pPr lvl="8" algn="ctr" rtl="0">
              <a:spcBef>
                <a:spcPts val="0"/>
              </a:spcBef>
              <a:buSzPct val="100000"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8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/>
          <a:lstStyle>
            <a:lvl1pPr lvl="0" rtl="0">
              <a:spcBef>
                <a:spcPts val="0"/>
              </a:spcBef>
              <a:defRPr/>
            </a:lvl1pPr>
            <a:lvl2pPr lvl="1" rtl="0">
              <a:spcBef>
                <a:spcPts val="0"/>
              </a:spcBef>
              <a:defRPr/>
            </a:lvl2pPr>
            <a:lvl3pPr lvl="2" rtl="0">
              <a:spcBef>
                <a:spcPts val="0"/>
              </a:spcBef>
              <a:defRPr/>
            </a:lvl3pPr>
            <a:lvl4pPr lvl="3" rtl="0">
              <a:spcBef>
                <a:spcPts val="0"/>
              </a:spcBef>
              <a:defRPr/>
            </a:lvl4pPr>
            <a:lvl5pPr lvl="4" rtl="0">
              <a:spcBef>
                <a:spcPts val="0"/>
              </a:spcBef>
              <a:defRPr/>
            </a:lvl5pPr>
            <a:lvl6pPr lvl="5" rtl="0">
              <a:spcBef>
                <a:spcPts val="0"/>
              </a:spcBef>
              <a:defRPr/>
            </a:lvl6pPr>
            <a:lvl7pPr lvl="6" rtl="0">
              <a:spcBef>
                <a:spcPts val="0"/>
              </a:spcBef>
              <a:defRPr/>
            </a:lvl7pPr>
            <a:lvl8pPr lvl="7" rtl="0">
              <a:spcBef>
                <a:spcPts val="0"/>
              </a:spcBef>
              <a:defRPr/>
            </a:lvl8pPr>
            <a:lvl9pPr lvl="8" rtl="0">
              <a:spcBef>
                <a:spcPts val="0"/>
              </a:spcBef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400"/>
          </a:xfrm>
          <a:prstGeom prst="rect">
            <a:avLst/>
          </a:prstGeom>
        </p:spPr>
        <p:txBody>
          <a:bodyPr lIns="91425" tIns="91425" rIns="91425" bIns="91425" anchor="ctr" anchorCtr="0"/>
          <a:lstStyle>
            <a:lvl1pPr lvl="0" algn="ctr" rtl="0">
              <a:spcBef>
                <a:spcPts val="0"/>
              </a:spcBef>
              <a:buSzPct val="100000"/>
              <a:defRPr sz="3600"/>
            </a:lvl1pPr>
            <a:lvl2pPr lvl="1" algn="ctr" rtl="0">
              <a:spcBef>
                <a:spcPts val="0"/>
              </a:spcBef>
              <a:buSzPct val="100000"/>
              <a:defRPr sz="3600"/>
            </a:lvl2pPr>
            <a:lvl3pPr lvl="2" algn="ctr" rtl="0">
              <a:spcBef>
                <a:spcPts val="0"/>
              </a:spcBef>
              <a:buSzPct val="100000"/>
              <a:defRPr sz="3600"/>
            </a:lvl3pPr>
            <a:lvl4pPr lvl="3" algn="ctr" rtl="0">
              <a:spcBef>
                <a:spcPts val="0"/>
              </a:spcBef>
              <a:buSzPct val="100000"/>
              <a:defRPr sz="3600"/>
            </a:lvl4pPr>
            <a:lvl5pPr lvl="4" algn="ctr" rtl="0">
              <a:spcBef>
                <a:spcPts val="0"/>
              </a:spcBef>
              <a:buSzPct val="100000"/>
              <a:defRPr sz="3600"/>
            </a:lvl5pPr>
            <a:lvl6pPr lvl="5" algn="ctr" rtl="0">
              <a:spcBef>
                <a:spcPts val="0"/>
              </a:spcBef>
              <a:buSzPct val="100000"/>
              <a:defRPr sz="3600"/>
            </a:lvl6pPr>
            <a:lvl7pPr lvl="6" algn="ctr" rtl="0">
              <a:spcBef>
                <a:spcPts val="0"/>
              </a:spcBef>
              <a:buSzPct val="100000"/>
              <a:defRPr sz="3600"/>
            </a:lvl7pPr>
            <a:lvl8pPr lvl="7" algn="ctr" rtl="0">
              <a:spcBef>
                <a:spcPts val="0"/>
              </a:spcBef>
              <a:buSzPct val="100000"/>
              <a:defRPr sz="3600"/>
            </a:lvl8pPr>
            <a:lvl9pPr lvl="8" algn="ctr" rtl="0">
              <a:spcBef>
                <a:spcPts val="0"/>
              </a:spcBef>
              <a:buSzPct val="100000"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7" y="6217621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laid_footer_990000.png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08725"/>
            <a:ext cx="914400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iming>
    <p:tnLst>
      <p:par>
        <p:cTn xmlns:p14="http://schemas.microsoft.com/office/powerpoint/2010/main"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Times" pitchFamily="-110" charset="0"/>
          <a:ea typeface="Osaka" pitchFamily="-110" charset="-128"/>
          <a:cs typeface="Osaka" pitchFamily="-110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Arial" pitchFamily="-110" charset="0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sz="2400">
          <a:solidFill>
            <a:schemeClr val="tx1"/>
          </a:solidFill>
          <a:latin typeface="Arial" pitchFamily="-110" charset="0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itchFamily="-110" charset="0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ctrTitle"/>
          </p:nvPr>
        </p:nvSpPr>
        <p:spPr>
          <a:xfrm>
            <a:off x="311708" y="323076"/>
            <a:ext cx="8520600" cy="2736800"/>
          </a:xfrm>
          <a:prstGeom prst="rect">
            <a:avLst/>
          </a:prstGeom>
        </p:spPr>
        <p:txBody>
          <a:bodyPr lIns="91425" tIns="91425" rIns="91425" bIns="91425" anchor="b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Political Campaign Database</a:t>
            </a:r>
          </a:p>
        </p:txBody>
      </p:sp>
      <p:sp>
        <p:nvSpPr>
          <p:cNvPr id="55" name="Shape 5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>
                <a:latin typeface="Cambria"/>
                <a:cs typeface="Cambria"/>
              </a:rPr>
              <a:t>Jeffrey Chan, Dominic Liu, Richa Mohan, Brad Wyatt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8746807" y="6312034"/>
            <a:ext cx="548700" cy="524800"/>
          </a:xfrm>
        </p:spPr>
        <p:txBody>
          <a:bodyPr/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 smtClean="0">
                <a:solidFill>
                  <a:schemeClr val="bg1"/>
                </a:solidFill>
              </a:rPr>
              <a:t>0</a:t>
            </a:fld>
            <a:endParaRPr lang="en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60"/>
          <p:cNvSpPr txBox="1">
            <a:spLocks noGrp="1"/>
          </p:cNvSpPr>
          <p:nvPr>
            <p:ph type="title"/>
          </p:nvPr>
        </p:nvSpPr>
        <p:spPr>
          <a:xfrm>
            <a:off x="311700" y="113785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/>
              <a:t>Agenda</a:t>
            </a:r>
            <a:endParaRPr lang="en" dirty="0"/>
          </a:p>
        </p:txBody>
      </p:sp>
      <p:sp>
        <p:nvSpPr>
          <p:cNvPr id="61" name="Shape 61"/>
          <p:cNvSpPr txBox="1">
            <a:spLocks noGrp="1"/>
          </p:cNvSpPr>
          <p:nvPr>
            <p:ph type="body" idx="1"/>
          </p:nvPr>
        </p:nvSpPr>
        <p:spPr>
          <a:xfrm>
            <a:off x="311700" y="1182835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dirty="0" smtClean="0"/>
              <a:t>Project </a:t>
            </a:r>
            <a:r>
              <a:rPr lang="en" sz="2000" dirty="0" smtClean="0"/>
              <a:t>Background</a:t>
            </a:r>
            <a:endParaRPr lang="en-US" sz="2000" dirty="0"/>
          </a:p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" sz="2000" dirty="0" smtClean="0"/>
              <a:t>ER </a:t>
            </a:r>
            <a:r>
              <a:rPr lang="en" sz="2000" dirty="0"/>
              <a:t>Diagram</a:t>
            </a:r>
          </a:p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" sz="2000" dirty="0"/>
              <a:t>Relational </a:t>
            </a:r>
            <a:r>
              <a:rPr lang="en" sz="2000" dirty="0" smtClean="0"/>
              <a:t>Schema</a:t>
            </a:r>
            <a:endParaRPr lang="en-US" sz="2000" dirty="0" smtClean="0"/>
          </a:p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dirty="0" smtClean="0"/>
              <a:t>Further Clarifications</a:t>
            </a:r>
            <a:endParaRPr lang="en" sz="2000" dirty="0"/>
          </a:p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" sz="2000" dirty="0" smtClean="0"/>
              <a:t>Queries</a:t>
            </a:r>
            <a:r>
              <a:rPr lang="en-US" sz="2000" dirty="0" smtClean="0"/>
              <a:t> And Their Uses</a:t>
            </a:r>
          </a:p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-US" sz="2000" dirty="0" smtClean="0"/>
              <a:t>Addressing Questions On Queries</a:t>
            </a:r>
            <a:endParaRPr lang="en" sz="2000" dirty="0"/>
          </a:p>
          <a:p>
            <a:pPr marL="514350" lvl="0" indent="-285750" rtl="0">
              <a:lnSpc>
                <a:spcPct val="200000"/>
              </a:lnSpc>
              <a:spcBef>
                <a:spcPts val="0"/>
              </a:spcBef>
              <a:buFont typeface="Arial"/>
              <a:buChar char="•"/>
            </a:pPr>
            <a:r>
              <a:rPr lang="en" sz="2000" dirty="0"/>
              <a:t>Q/A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>
          <a:xfrm>
            <a:off x="8722296" y="6312034"/>
            <a:ext cx="548700" cy="524800"/>
          </a:xfrm>
        </p:spPr>
        <p:txBody>
          <a:bodyPr/>
          <a:lstStyle/>
          <a:p>
            <a:pPr lvl="0" rtl="0">
              <a:spcBef>
                <a:spcPts val="0"/>
              </a:spcBef>
              <a:buNone/>
            </a:pPr>
            <a:fld id="{00000000-1234-1234-1234-123412341234}" type="slidenum">
              <a:rPr lang="en" smtClean="0">
                <a:solidFill>
                  <a:srgbClr val="FFFFFF"/>
                </a:solidFill>
              </a:rPr>
              <a:t>1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title"/>
          </p:nvPr>
        </p:nvSpPr>
        <p:spPr>
          <a:xfrm>
            <a:off x="311700" y="114300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Background</a:t>
            </a:r>
          </a:p>
        </p:txBody>
      </p:sp>
      <p:sp>
        <p:nvSpPr>
          <p:cNvPr id="67" name="Shape 67"/>
          <p:cNvSpPr txBox="1">
            <a:spLocks noGrp="1"/>
          </p:cNvSpPr>
          <p:nvPr>
            <p:ph type="body" idx="1"/>
          </p:nvPr>
        </p:nvSpPr>
        <p:spPr>
          <a:xfrm>
            <a:off x="311700" y="1195333"/>
            <a:ext cx="8520600" cy="4555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514350" lvl="0" indent="-285750" rtl="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" sz="2400" dirty="0">
                <a:latin typeface="Cambria"/>
                <a:cs typeface="Cambria"/>
              </a:rPr>
              <a:t>Hypothetical political campaign</a:t>
            </a:r>
          </a:p>
          <a:p>
            <a:pPr marL="514350" lvl="0" indent="-285750" rtl="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" sz="2400" dirty="0">
                <a:latin typeface="Cambria"/>
                <a:cs typeface="Cambria"/>
              </a:rPr>
              <a:t>Candidates and his/her workers as end users</a:t>
            </a:r>
          </a:p>
          <a:p>
            <a:pPr marL="514350" lvl="0" indent="-285750" rtl="0">
              <a:lnSpc>
                <a:spcPct val="150000"/>
              </a:lnSpc>
              <a:spcBef>
                <a:spcPts val="0"/>
              </a:spcBef>
              <a:buFont typeface="Arial"/>
              <a:buChar char="•"/>
            </a:pPr>
            <a:r>
              <a:rPr lang="en" sz="2400" dirty="0">
                <a:latin typeface="Cambria"/>
                <a:cs typeface="Cambria"/>
              </a:rPr>
              <a:t>Improved efficiency to eliminate redundancies and save time and money</a:t>
            </a:r>
          </a:p>
          <a:p>
            <a:pPr lvl="0" rtl="0">
              <a:spcBef>
                <a:spcPts val="0"/>
              </a:spcBef>
              <a:buNone/>
            </a:pPr>
            <a:endParaRPr dirty="0"/>
          </a:p>
        </p:txBody>
      </p:sp>
      <p:sp>
        <p:nvSpPr>
          <p:cNvPr id="6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2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 txBox="1">
            <a:spLocks noGrp="1"/>
          </p:cNvSpPr>
          <p:nvPr>
            <p:ph type="title"/>
          </p:nvPr>
        </p:nvSpPr>
        <p:spPr>
          <a:xfrm>
            <a:off x="311700" y="113785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/>
              <a:t>ER Diagram</a:t>
            </a:r>
            <a:endParaRPr lang="e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6055" t="1865" r="9073" b="2231"/>
          <a:stretch/>
        </p:blipFill>
        <p:spPr>
          <a:xfrm>
            <a:off x="538518" y="977900"/>
            <a:ext cx="8152773" cy="51689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3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60"/>
          <p:cNvSpPr txBox="1">
            <a:spLocks noGrp="1"/>
          </p:cNvSpPr>
          <p:nvPr>
            <p:ph type="title"/>
          </p:nvPr>
        </p:nvSpPr>
        <p:spPr>
          <a:xfrm>
            <a:off x="311700" y="113785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dirty="0" smtClean="0"/>
              <a:t>Relational Schema</a:t>
            </a:r>
            <a:endParaRPr lang="e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756" t="-1379" r="1427"/>
          <a:stretch/>
        </p:blipFill>
        <p:spPr>
          <a:xfrm>
            <a:off x="310213" y="953585"/>
            <a:ext cx="8550234" cy="50966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4</a:t>
            </a:fld>
            <a:endParaRPr lang="e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018078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 bwMode="auto">
          <a:xfrm>
            <a:off x="927100" y="4226568"/>
            <a:ext cx="4038600" cy="1470150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11" name="Rectangle 10"/>
          <p:cNvSpPr/>
          <p:nvPr/>
        </p:nvSpPr>
        <p:spPr bwMode="auto">
          <a:xfrm>
            <a:off x="939800" y="1311150"/>
            <a:ext cx="4038600" cy="1470150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84" name="Shape 84"/>
          <p:cNvSpPr txBox="1">
            <a:spLocks noGrp="1"/>
          </p:cNvSpPr>
          <p:nvPr>
            <p:ph type="title"/>
          </p:nvPr>
        </p:nvSpPr>
        <p:spPr>
          <a:xfrm>
            <a:off x="311700" y="1107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Further Clarifications</a:t>
            </a:r>
          </a:p>
        </p:txBody>
      </p:sp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187993" y="874367"/>
            <a:ext cx="5059200" cy="3608733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marL="742950" lvl="0" indent="-285750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sz="1600" b="1" dirty="0">
                <a:solidFill>
                  <a:schemeClr val="dk1"/>
                </a:solidFill>
                <a:latin typeface="Cambria"/>
                <a:cs typeface="Cambria"/>
              </a:rPr>
              <a:t>Tracking volunteers for both parties</a:t>
            </a: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600" dirty="0" smtClean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>
              <a:solidFill>
                <a:schemeClr val="dk1"/>
              </a:solidFill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</a:endParaRPr>
          </a:p>
          <a:p>
            <a:pPr marL="742950" lvl="0" indent="-285750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sz="1600" b="1" dirty="0">
                <a:solidFill>
                  <a:schemeClr val="dk1"/>
                </a:solidFill>
                <a:latin typeface="Cambria"/>
                <a:cs typeface="Cambria"/>
              </a:rPr>
              <a:t>Tracking who has voted in primaries of the opposing party </a:t>
            </a:r>
            <a:endParaRPr lang="en-US" b="1" dirty="0">
              <a:solidFill>
                <a:schemeClr val="dk1"/>
              </a:solidFill>
              <a:latin typeface="Cambria"/>
              <a:cs typeface="Cambria"/>
            </a:endParaRPr>
          </a:p>
          <a:p>
            <a:pPr marL="457200" lvl="0" indent="0" rtl="0">
              <a:spcBef>
                <a:spcPts val="0"/>
              </a:spcBef>
              <a:spcAft>
                <a:spcPts val="0"/>
              </a:spcAft>
            </a:pPr>
            <a:endParaRPr sz="1600" dirty="0" smtClean="0">
              <a:solidFill>
                <a:schemeClr val="dk1"/>
              </a:solidFill>
              <a:latin typeface="Cambria"/>
              <a:cs typeface="Cambria"/>
            </a:endParaRPr>
          </a:p>
          <a:p>
            <a:pPr marL="742950" lvl="0" indent="-285750" rtl="0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" sz="1600" b="1" dirty="0" smtClean="0">
                <a:solidFill>
                  <a:schemeClr val="dk1"/>
                </a:solidFill>
                <a:latin typeface="Cambria"/>
                <a:cs typeface="Cambria"/>
              </a:rPr>
              <a:t>The </a:t>
            </a:r>
            <a:r>
              <a:rPr lang="en" sz="1600" b="1" dirty="0">
                <a:solidFill>
                  <a:schemeClr val="dk1"/>
                </a:solidFill>
                <a:latin typeface="Cambria"/>
                <a:cs typeface="Cambria"/>
              </a:rPr>
              <a:t>same volunteer contacting the same voter with different </a:t>
            </a:r>
            <a:r>
              <a:rPr lang="en" sz="1600" b="1" dirty="0" smtClean="0">
                <a:solidFill>
                  <a:schemeClr val="dk1"/>
                </a:solidFill>
                <a:latin typeface="Cambria"/>
                <a:cs typeface="Cambria"/>
              </a:rPr>
              <a:t>methods</a:t>
            </a:r>
            <a:endParaRPr lang="en-US" sz="1600" b="1" dirty="0" smtClean="0">
              <a:solidFill>
                <a:schemeClr val="dk1"/>
              </a:solidFill>
              <a:latin typeface="Cambria"/>
              <a:cs typeface="Cambria"/>
            </a:endParaRPr>
          </a:p>
        </p:txBody>
      </p:sp>
      <p:pic>
        <p:nvPicPr>
          <p:cNvPr id="86" name="Shape 86"/>
          <p:cNvPicPr preferRelativeResize="0"/>
          <p:nvPr/>
        </p:nvPicPr>
        <p:blipFill rotWithShape="1">
          <a:blip r:embed="rId3">
            <a:alphaModFix/>
          </a:blip>
          <a:srcRect l="20205" t="54773" r="62165" b="37424"/>
          <a:stretch/>
        </p:blipFill>
        <p:spPr>
          <a:xfrm>
            <a:off x="1180588" y="1433167"/>
            <a:ext cx="3543812" cy="1246533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Shape 87"/>
          <p:cNvPicPr preferRelativeResize="0"/>
          <p:nvPr/>
        </p:nvPicPr>
        <p:blipFill rotWithShape="1">
          <a:blip r:embed="rId4">
            <a:alphaModFix/>
          </a:blip>
          <a:srcRect l="20568" t="54773" r="62973" b="37489"/>
          <a:stretch/>
        </p:blipFill>
        <p:spPr>
          <a:xfrm>
            <a:off x="1231388" y="4324867"/>
            <a:ext cx="3543812" cy="123773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" name="Shape 88"/>
          <p:cNvGraphicFramePr/>
          <p:nvPr>
            <p:extLst>
              <p:ext uri="{D42A27DB-BD31-4B8C-83A1-F6EECF244321}">
                <p14:modId xmlns:p14="http://schemas.microsoft.com/office/powerpoint/2010/main" val="645084849"/>
              </p:ext>
            </p:extLst>
          </p:nvPr>
        </p:nvGraphicFramePr>
        <p:xfrm>
          <a:off x="5670000" y="3276841"/>
          <a:ext cx="2921000" cy="2590559"/>
        </p:xfrm>
        <a:graphic>
          <a:graphicData uri="http://schemas.openxmlformats.org/drawingml/2006/table">
            <a:tbl>
              <a:tblPr>
                <a:noFill/>
                <a:tableStyleId>{A2D5FA2E-22A6-4E4B-B826-FBA00FA3E98D}</a:tableStyleId>
              </a:tblPr>
              <a:tblGrid>
                <a:gridCol w="941230"/>
                <a:gridCol w="1979770"/>
              </a:tblGrid>
              <a:tr h="4063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400" b="1" smtClean="0"/>
                        <a:t>Rank</a:t>
                      </a:r>
                      <a:endParaRPr lang="en" sz="1400" b="1"/>
                    </a:p>
                  </a:txBody>
                  <a:tcPr marL="91425" marR="91425" marT="121900" marB="12190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400" b="1" dirty="0" smtClean="0"/>
                        <a:t>Description</a:t>
                      </a:r>
                      <a:endParaRPr lang="en" sz="1400" b="1" dirty="0"/>
                    </a:p>
                  </a:txBody>
                  <a:tcPr marL="91425" marR="91425" marT="121900" marB="121900">
                    <a:solidFill>
                      <a:srgbClr val="008000"/>
                    </a:solidFill>
                  </a:tcPr>
                </a:tc>
              </a:tr>
              <a:tr h="4063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1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Strong Republican</a:t>
                      </a:r>
                    </a:p>
                  </a:txBody>
                  <a:tcPr marL="91425" marR="91425" marT="121900" marB="121900"/>
                </a:tc>
              </a:tr>
              <a:tr h="4063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2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Lean Republican</a:t>
                      </a:r>
                    </a:p>
                  </a:txBody>
                  <a:tcPr marL="91425" marR="91425" marT="121900" marB="121900"/>
                </a:tc>
              </a:tr>
              <a:tr h="406360"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3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Neutral</a:t>
                      </a:r>
                    </a:p>
                  </a:txBody>
                  <a:tcPr marL="91425" marR="91425" marT="121900" marB="121900"/>
                </a:tc>
              </a:tr>
              <a:tr h="406360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4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Lean Democrat</a:t>
                      </a:r>
                    </a:p>
                  </a:txBody>
                  <a:tcPr marL="91425" marR="91425" marT="121900" marB="121900"/>
                </a:tc>
              </a:tr>
              <a:tr h="406360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5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Strong Democrat</a:t>
                      </a:r>
                    </a:p>
                  </a:txBody>
                  <a:tcPr marL="91425" marR="91425" marT="121900" marB="121900"/>
                </a:tc>
              </a:tr>
            </a:tbl>
          </a:graphicData>
        </a:graphic>
      </p:graphicFrame>
      <p:graphicFrame>
        <p:nvGraphicFramePr>
          <p:cNvPr id="89" name="Shape 89"/>
          <p:cNvGraphicFramePr/>
          <p:nvPr>
            <p:extLst>
              <p:ext uri="{D42A27DB-BD31-4B8C-83A1-F6EECF244321}">
                <p14:modId xmlns:p14="http://schemas.microsoft.com/office/powerpoint/2010/main" val="232531828"/>
              </p:ext>
            </p:extLst>
          </p:nvPr>
        </p:nvGraphicFramePr>
        <p:xfrm>
          <a:off x="5670000" y="1382367"/>
          <a:ext cx="2921000" cy="1737199"/>
        </p:xfrm>
        <a:graphic>
          <a:graphicData uri="http://schemas.openxmlformats.org/drawingml/2006/table">
            <a:tbl>
              <a:tblPr>
                <a:noFill/>
                <a:tableStyleId>{A2D5FA2E-22A6-4E4B-B826-FBA00FA3E98D}</a:tableStyleId>
              </a:tblPr>
              <a:tblGrid>
                <a:gridCol w="972100"/>
                <a:gridCol w="1948900"/>
              </a:tblGrid>
              <a:tr h="406360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400" b="1" dirty="0"/>
                        <a:t>Score</a:t>
                      </a:r>
                    </a:p>
                  </a:txBody>
                  <a:tcPr marL="91425" marR="91425" marT="121900" marB="121900">
                    <a:solidFill>
                      <a:srgbClr val="008000"/>
                    </a:solidFill>
                  </a:tcPr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400" b="1" dirty="0"/>
                        <a:t>Description</a:t>
                      </a:r>
                    </a:p>
                  </a:txBody>
                  <a:tcPr marL="91425" marR="91425" marT="121900" marB="121900">
                    <a:solidFill>
                      <a:srgbClr val="008000"/>
                    </a:solidFill>
                  </a:tcPr>
                </a:tc>
              </a:tr>
              <a:tr h="408373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A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Always Votes</a:t>
                      </a:r>
                    </a:p>
                  </a:txBody>
                  <a:tcPr marL="91425" marR="91425" marT="121900" marB="121900"/>
                </a:tc>
              </a:tr>
              <a:tr h="395713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B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Sometimes Votes</a:t>
                      </a:r>
                    </a:p>
                  </a:txBody>
                  <a:tcPr marL="91425" marR="91425" marT="121900" marB="121900"/>
                </a:tc>
              </a:tr>
              <a:tr h="406360"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/>
                        <a:t>C</a:t>
                      </a:r>
                    </a:p>
                  </a:txBody>
                  <a:tcPr marL="91425" marR="91425" marT="121900" marB="121900"/>
                </a:tc>
                <a:tc>
                  <a:txBody>
                    <a:bodyPr/>
                    <a:lstStyle/>
                    <a:p>
                      <a:pPr lvl="0" rtl="0">
                        <a:spcBef>
                          <a:spcPts val="0"/>
                        </a:spcBef>
                        <a:buNone/>
                      </a:pPr>
                      <a:r>
                        <a:rPr lang="en" sz="1200" dirty="0"/>
                        <a:t>Never Votes</a:t>
                      </a:r>
                    </a:p>
                  </a:txBody>
                  <a:tcPr marL="91425" marR="91425" marT="121900" marB="121900"/>
                </a:tc>
              </a:tr>
            </a:tbl>
          </a:graphicData>
        </a:graphic>
      </p:graphicFrame>
      <p:cxnSp>
        <p:nvCxnSpPr>
          <p:cNvPr id="3" name="Straight Connector 2"/>
          <p:cNvCxnSpPr/>
          <p:nvPr/>
        </p:nvCxnSpPr>
        <p:spPr bwMode="auto">
          <a:xfrm flipH="1">
            <a:off x="5198486" y="885579"/>
            <a:ext cx="12700" cy="51181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4" name="Rectangle 3"/>
          <p:cNvSpPr/>
          <p:nvPr/>
        </p:nvSpPr>
        <p:spPr>
          <a:xfrm>
            <a:off x="5092700" y="885579"/>
            <a:ext cx="437105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0" indent="-285750">
              <a:buFont typeface="Arial"/>
              <a:buChar char="•"/>
            </a:pPr>
            <a:r>
              <a:rPr lang="en-US" sz="1600" b="1" dirty="0" smtClean="0">
                <a:solidFill>
                  <a:schemeClr val="dk1"/>
                </a:solidFill>
                <a:latin typeface="Cambria"/>
                <a:cs typeface="Cambria"/>
              </a:rPr>
              <a:t>Meaning of Score and Rank</a:t>
            </a:r>
            <a:endParaRPr lang="en" sz="1600" b="1" dirty="0">
              <a:solidFill>
                <a:schemeClr val="dk1"/>
              </a:solidFill>
              <a:latin typeface="Cambria"/>
              <a:cs typeface="Cambria"/>
            </a:endParaRPr>
          </a:p>
        </p:txBody>
      </p:sp>
      <p:sp>
        <p:nvSpPr>
          <p:cNvPr id="14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5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 bwMode="auto">
          <a:xfrm>
            <a:off x="422050" y="2193849"/>
            <a:ext cx="3927662" cy="3648151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2" name="Rectangle 1"/>
          <p:cNvSpPr/>
          <p:nvPr/>
        </p:nvSpPr>
        <p:spPr bwMode="auto">
          <a:xfrm>
            <a:off x="5092700" y="2806701"/>
            <a:ext cx="3543300" cy="2635500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xfrm>
            <a:off x="311700" y="218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Queries</a:t>
            </a:r>
            <a:r>
              <a:rPr lang="en-US" dirty="0" smtClean="0"/>
              <a:t> and Their Uses</a:t>
            </a:r>
            <a:endParaRPr lang="en" dirty="0"/>
          </a:p>
        </p:txBody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0" y="939733"/>
            <a:ext cx="4152900" cy="4555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-US" b="1" dirty="0">
                <a:latin typeface="Cambria"/>
                <a:cs typeface="Cambria"/>
              </a:rPr>
              <a:t>	</a:t>
            </a:r>
            <a:r>
              <a:rPr lang="en" b="1" dirty="0" smtClean="0">
                <a:latin typeface="Cambria"/>
                <a:cs typeface="Cambria"/>
              </a:rPr>
              <a:t>How consistent</a:t>
            </a:r>
            <a:r>
              <a:rPr lang="en-US" b="1" dirty="0" err="1" smtClean="0">
                <a:latin typeface="Cambria"/>
                <a:cs typeface="Cambria"/>
              </a:rPr>
              <a:t>ly</a:t>
            </a:r>
            <a:r>
              <a:rPr lang="en" b="1" dirty="0" smtClean="0">
                <a:latin typeface="Cambria"/>
                <a:cs typeface="Cambria"/>
              </a:rPr>
              <a:t> </a:t>
            </a:r>
            <a:r>
              <a:rPr lang="en" b="1" dirty="0">
                <a:latin typeface="Cambria"/>
                <a:cs typeface="Cambria"/>
              </a:rPr>
              <a:t>registered voters </a:t>
            </a:r>
            <a:r>
              <a:rPr lang="en" b="1" dirty="0" smtClean="0">
                <a:latin typeface="Cambria"/>
                <a:cs typeface="Cambria"/>
              </a:rPr>
              <a:t>i</a:t>
            </a:r>
            <a:r>
              <a:rPr lang="en-US" b="1" dirty="0" smtClean="0">
                <a:latin typeface="Cambria"/>
                <a:cs typeface="Cambria"/>
              </a:rPr>
              <a:t>n </a:t>
            </a:r>
            <a:r>
              <a:rPr lang="en" b="1" dirty="0" smtClean="0">
                <a:latin typeface="Cambria"/>
                <a:cs typeface="Cambria"/>
              </a:rPr>
              <a:t>the </a:t>
            </a:r>
            <a:r>
              <a:rPr lang="en" b="1" dirty="0">
                <a:latin typeface="Cambria"/>
                <a:cs typeface="Cambria"/>
              </a:rPr>
              <a:t>district actually vote. </a:t>
            </a:r>
            <a:r>
              <a:rPr lang="en" dirty="0">
                <a:latin typeface="Cambria"/>
                <a:cs typeface="Cambria"/>
              </a:rPr>
              <a:t>Candidates </a:t>
            </a:r>
            <a:r>
              <a:rPr lang="en" dirty="0" smtClean="0">
                <a:latin typeface="Cambria"/>
                <a:cs typeface="Cambria"/>
              </a:rPr>
              <a:t>need </a:t>
            </a:r>
            <a:r>
              <a:rPr lang="en" dirty="0">
                <a:latin typeface="Cambria"/>
                <a:cs typeface="Cambria"/>
              </a:rPr>
              <a:t>to decide which voters should be targeted.</a:t>
            </a:r>
          </a:p>
        </p:txBody>
      </p:sp>
      <p:pic>
        <p:nvPicPr>
          <p:cNvPr id="96" name="Shape 96"/>
          <p:cNvPicPr preferRelativeResize="0"/>
          <p:nvPr/>
        </p:nvPicPr>
        <p:blipFill rotWithShape="1">
          <a:blip r:embed="rId3">
            <a:alphaModFix/>
          </a:blip>
          <a:srcRect l="20188" t="54856" r="62841" b="20643"/>
          <a:stretch/>
        </p:blipFill>
        <p:spPr>
          <a:xfrm>
            <a:off x="1239600" y="2460157"/>
            <a:ext cx="2973638" cy="306017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Shape 98"/>
          <p:cNvCxnSpPr/>
          <p:nvPr/>
        </p:nvCxnSpPr>
        <p:spPr>
          <a:xfrm flipH="1">
            <a:off x="1137200" y="2460157"/>
            <a:ext cx="13500" cy="31212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99" name="Shape 99"/>
          <p:cNvSpPr txBox="1"/>
          <p:nvPr/>
        </p:nvSpPr>
        <p:spPr>
          <a:xfrm>
            <a:off x="523650" y="3076242"/>
            <a:ext cx="629102" cy="161024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/>
              <a:t>Less likely to </a:t>
            </a:r>
            <a:r>
              <a:rPr lang="en" dirty="0" smtClean="0"/>
              <a:t>vote</a:t>
            </a:r>
            <a:endParaRPr lang="en" dirty="0"/>
          </a:p>
        </p:txBody>
      </p:sp>
      <p:sp>
        <p:nvSpPr>
          <p:cNvPr id="8" name="Shape 105"/>
          <p:cNvSpPr txBox="1">
            <a:spLocks/>
          </p:cNvSpPr>
          <p:nvPr/>
        </p:nvSpPr>
        <p:spPr>
          <a:xfrm>
            <a:off x="4559300" y="887000"/>
            <a:ext cx="4285700" cy="4555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>
            <a:lvl1pPr marL="342900" lvl="0" indent="-342900" algn="l" rtl="0" eaLnBrk="1" fontAlgn="base" hangingPunct="1">
              <a:spcBef>
                <a:spcPts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lvl="1" indent="-285750" algn="l" rtl="0" eaLnBrk="1" fontAlgn="base" hangingPunct="1">
              <a:spcBef>
                <a:spcPts val="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2pPr>
            <a:lvl3pPr marL="1143000" lvl="2" indent="-228600" algn="l" rtl="0" eaLnBrk="1" fontAlgn="base" hangingPunct="1">
              <a:spcBef>
                <a:spcPts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3pPr>
            <a:lvl4pPr marL="1600200" lvl="3" indent="-228600" algn="l" rtl="0" eaLnBrk="1" fontAlgn="base" hangingPunct="1">
              <a:spcBef>
                <a:spcPts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4pPr>
            <a:lvl5pPr marL="2057400" lvl="4" indent="-228600" algn="l" rtl="0" eaLnBrk="1" fontAlgn="base" hangingPunct="1"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5pPr>
            <a:lvl6pPr marL="2514600" lvl="5" indent="-228600" algn="l" rtl="0" eaLnBrk="1" fontAlgn="base" hangingPunct="1"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6pPr>
            <a:lvl7pPr marL="2971800" lvl="6" indent="-228600" algn="l" rtl="0" eaLnBrk="1" fontAlgn="base" hangingPunct="1"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7pPr>
            <a:lvl8pPr marL="3429000" lvl="7" indent="-228600" algn="l" rtl="0" eaLnBrk="1" fontAlgn="base" hangingPunct="1"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8pPr>
            <a:lvl9pPr marL="3886200" lvl="8" indent="-228600" algn="l" rtl="0" eaLnBrk="1" fontAlgn="base" hangingPunct="1">
              <a:spcBef>
                <a:spcPts val="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itchFamily="-110" charset="0"/>
                <a:ea typeface="+mn-ea"/>
                <a:cs typeface="+mn-cs"/>
              </a:defRPr>
            </a:lvl9pPr>
          </a:lstStyle>
          <a:p>
            <a:r>
              <a:rPr lang="en-US" b="1" dirty="0">
                <a:latin typeface="Cambria"/>
                <a:cs typeface="Cambria"/>
              </a:rPr>
              <a:t>	</a:t>
            </a:r>
            <a:r>
              <a:rPr lang="en" b="1" dirty="0" smtClean="0">
                <a:latin typeface="Cambria"/>
                <a:cs typeface="Cambria"/>
              </a:rPr>
              <a:t>The candidates with the above average expenditure. </a:t>
            </a:r>
            <a:r>
              <a:rPr lang="en" dirty="0" smtClean="0">
                <a:latin typeface="Cambria"/>
                <a:cs typeface="Cambria"/>
              </a:rPr>
              <a:t>It is common to hear that candidates that spend the most money are more likely to win elections, and it shows how committed they are to the campaign.</a:t>
            </a:r>
            <a:endParaRPr lang="en" dirty="0">
              <a:latin typeface="Cambria"/>
              <a:cs typeface="Cambria"/>
            </a:endParaRPr>
          </a:p>
        </p:txBody>
      </p:sp>
      <p:pic>
        <p:nvPicPr>
          <p:cNvPr id="9" name="Shape 106"/>
          <p:cNvPicPr preferRelativeResize="0"/>
          <p:nvPr/>
        </p:nvPicPr>
        <p:blipFill rotWithShape="1">
          <a:blip r:embed="rId4">
            <a:alphaModFix/>
          </a:blip>
          <a:srcRect r="6822" b="12049"/>
          <a:stretch/>
        </p:blipFill>
        <p:spPr>
          <a:xfrm>
            <a:off x="5400525" y="3511600"/>
            <a:ext cx="2854475" cy="156069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Shape 108"/>
          <p:cNvSpPr txBox="1"/>
          <p:nvPr/>
        </p:nvSpPr>
        <p:spPr>
          <a:xfrm>
            <a:off x="5959325" y="2993967"/>
            <a:ext cx="1886100" cy="356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u="sng" dirty="0"/>
              <a:t>Serious Contenders</a:t>
            </a:r>
          </a:p>
        </p:txBody>
      </p:sp>
      <p:cxnSp>
        <p:nvCxnSpPr>
          <p:cNvPr id="11" name="Straight Connector 10"/>
          <p:cNvCxnSpPr/>
          <p:nvPr/>
        </p:nvCxnSpPr>
        <p:spPr bwMode="auto">
          <a:xfrm flipH="1">
            <a:off x="4559300" y="874367"/>
            <a:ext cx="12700" cy="51181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5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6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 bwMode="auto">
          <a:xfrm>
            <a:off x="422050" y="5273565"/>
            <a:ext cx="8264750" cy="762000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13" name="Rectangle 12"/>
          <p:cNvSpPr/>
          <p:nvPr/>
        </p:nvSpPr>
        <p:spPr bwMode="auto">
          <a:xfrm>
            <a:off x="422050" y="1701800"/>
            <a:ext cx="8264750" cy="2768599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xfrm>
            <a:off x="311700" y="218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Queries</a:t>
            </a:r>
            <a:r>
              <a:rPr lang="en-US" dirty="0" smtClean="0"/>
              <a:t> and Their Uses</a:t>
            </a:r>
            <a:endParaRPr lang="en" dirty="0"/>
          </a:p>
        </p:txBody>
      </p:sp>
      <p:sp>
        <p:nvSpPr>
          <p:cNvPr id="95" name="Shape 95"/>
          <p:cNvSpPr txBox="1">
            <a:spLocks noGrp="1"/>
          </p:cNvSpPr>
          <p:nvPr>
            <p:ph type="body" idx="1"/>
          </p:nvPr>
        </p:nvSpPr>
        <p:spPr>
          <a:xfrm>
            <a:off x="0" y="939733"/>
            <a:ext cx="8832300" cy="762067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-US" dirty="0">
                <a:latin typeface="Cambria"/>
                <a:cs typeface="Cambria"/>
              </a:rPr>
              <a:t>	</a:t>
            </a:r>
            <a:r>
              <a:rPr lang="en" dirty="0" smtClean="0">
                <a:latin typeface="Cambria"/>
                <a:cs typeface="Cambria"/>
              </a:rPr>
              <a:t>Political </a:t>
            </a:r>
            <a:r>
              <a:rPr lang="en" dirty="0">
                <a:latin typeface="Cambria"/>
                <a:cs typeface="Cambria"/>
              </a:rPr>
              <a:t>campaigns need to effectively target others, but they also </a:t>
            </a:r>
            <a:r>
              <a:rPr lang="en" b="1" dirty="0">
                <a:latin typeface="Cambria"/>
                <a:cs typeface="Cambria"/>
              </a:rPr>
              <a:t>need to target donors</a:t>
            </a:r>
            <a:r>
              <a:rPr lang="en" dirty="0">
                <a:latin typeface="Cambria"/>
                <a:cs typeface="Cambria"/>
              </a:rPr>
              <a:t> in order to make the most money. </a:t>
            </a:r>
          </a:p>
        </p:txBody>
      </p:sp>
      <p:pic>
        <p:nvPicPr>
          <p:cNvPr id="14" name="Shape 115"/>
          <p:cNvPicPr preferRelativeResize="0"/>
          <p:nvPr/>
        </p:nvPicPr>
        <p:blipFill rotWithShape="1">
          <a:blip r:embed="rId3">
            <a:alphaModFix/>
          </a:blip>
          <a:srcRect l="7681" t="5070" r="4765" b="4848"/>
          <a:stretch/>
        </p:blipFill>
        <p:spPr>
          <a:xfrm>
            <a:off x="1193799" y="2433332"/>
            <a:ext cx="1943101" cy="1887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Shape 1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5638" y="2568465"/>
            <a:ext cx="4067175" cy="161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422050" y="4581386"/>
            <a:ext cx="8264750" cy="5847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" sz="1600" b="1" dirty="0">
                <a:latin typeface="Cambria"/>
                <a:cs typeface="Cambria"/>
              </a:rPr>
              <a:t>We need to identify the volunteers who volunteered for multiple elections. </a:t>
            </a:r>
            <a:r>
              <a:rPr lang="en" sz="1600" dirty="0">
                <a:latin typeface="Cambria"/>
                <a:cs typeface="Cambria"/>
              </a:rPr>
              <a:t>This means they could be more likely to volunteer on our campaign.</a:t>
            </a:r>
          </a:p>
        </p:txBody>
      </p:sp>
      <p:pic>
        <p:nvPicPr>
          <p:cNvPr id="16" name="Shape 1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19038" y="5349765"/>
            <a:ext cx="3245337" cy="5842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520575" y="1821212"/>
            <a:ext cx="34418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" u="sng" dirty="0" smtClean="0">
                <a:latin typeface="Cambria"/>
                <a:cs typeface="Cambria"/>
              </a:rPr>
              <a:t>List of candidates’ parties that each donor donated to</a:t>
            </a:r>
            <a:endParaRPr lang="en" u="sng" dirty="0">
              <a:latin typeface="Cambria"/>
              <a:cs typeface="Cambria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900311" y="1976588"/>
            <a:ext cx="26199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" u="sng" dirty="0"/>
              <a:t>Top donors for each candidate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802568" y="5359945"/>
            <a:ext cx="322640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" u="sng" dirty="0"/>
              <a:t>Volunteers who volunteered in multiple elections</a:t>
            </a:r>
          </a:p>
        </p:txBody>
      </p:sp>
      <p:sp>
        <p:nvSpPr>
          <p:cNvPr id="17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7</a:t>
            </a:fld>
            <a:endParaRPr lang="e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9121081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080000" y="1259417"/>
            <a:ext cx="3441700" cy="3648151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311700" y="980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Addressing Questions on Queries</a:t>
            </a:r>
            <a:endParaRPr lang="en" dirty="0"/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256024" y="5066700"/>
            <a:ext cx="8405376" cy="1702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 smtClean="0">
                <a:latin typeface="Cambria"/>
                <a:cs typeface="Cambria"/>
              </a:rPr>
              <a:t>Q</a:t>
            </a:r>
            <a:r>
              <a:rPr lang="en" b="1" dirty="0">
                <a:latin typeface="Cambria"/>
                <a:cs typeface="Cambria"/>
              </a:rPr>
              <a:t>. </a:t>
            </a:r>
            <a:r>
              <a:rPr lang="en-US" b="1" dirty="0" smtClean="0">
                <a:latin typeface="Cambria"/>
                <a:cs typeface="Cambria"/>
              </a:rPr>
              <a:t> </a:t>
            </a:r>
            <a:r>
              <a:rPr lang="en" b="1" dirty="0" smtClean="0">
                <a:latin typeface="Cambria"/>
                <a:cs typeface="Cambria"/>
              </a:rPr>
              <a:t>What </a:t>
            </a:r>
            <a:r>
              <a:rPr lang="en" b="1" dirty="0">
                <a:latin typeface="Cambria"/>
                <a:cs typeface="Cambria"/>
              </a:rPr>
              <a:t>would happen if we removed the voter who has voted in the maximum number of </a:t>
            </a:r>
            <a:r>
              <a:rPr lang="en-US" b="1" dirty="0" smtClean="0">
                <a:latin typeface="Cambria"/>
                <a:cs typeface="Cambria"/>
              </a:rPr>
              <a:t>elections?</a:t>
            </a:r>
          </a:p>
          <a:p>
            <a:pPr lvl="0">
              <a:spcBef>
                <a:spcPts val="0"/>
              </a:spcBef>
              <a:buNone/>
            </a:pPr>
            <a:r>
              <a:rPr lang="en-US" b="1" dirty="0" smtClean="0">
                <a:latin typeface="Cambria"/>
                <a:cs typeface="Cambria"/>
              </a:rPr>
              <a:t>A.   </a:t>
            </a:r>
            <a:r>
              <a:rPr lang="en" b="1" dirty="0" smtClean="0">
                <a:latin typeface="Cambria"/>
                <a:cs typeface="Cambria"/>
              </a:rPr>
              <a:t>We </a:t>
            </a:r>
            <a:r>
              <a:rPr lang="en" b="1" dirty="0">
                <a:latin typeface="Cambria"/>
                <a:cs typeface="Cambria"/>
              </a:rPr>
              <a:t>would get the voters who voted for the next maximum number of elections, 3 in this case. </a:t>
            </a:r>
          </a:p>
        </p:txBody>
      </p:sp>
      <p:sp>
        <p:nvSpPr>
          <p:cNvPr id="134" name="Shape 134"/>
          <p:cNvSpPr txBox="1"/>
          <p:nvPr/>
        </p:nvSpPr>
        <p:spPr>
          <a:xfrm>
            <a:off x="318999" y="905000"/>
            <a:ext cx="4900701" cy="96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 b="1" dirty="0">
                <a:latin typeface="Cambria"/>
                <a:cs typeface="Cambria"/>
              </a:rPr>
              <a:t>AIM: </a:t>
            </a:r>
            <a:r>
              <a:rPr lang="en" sz="1600" dirty="0">
                <a:latin typeface="Cambria"/>
                <a:cs typeface="Cambria"/>
              </a:rPr>
              <a:t>Find the Voters who voted in the maximum number of elections. </a:t>
            </a:r>
            <a:endParaRPr sz="1600" dirty="0">
              <a:latin typeface="Cambria"/>
              <a:cs typeface="Cambria"/>
            </a:endParaRPr>
          </a:p>
          <a:p>
            <a:pPr lvl="0">
              <a:spcBef>
                <a:spcPts val="0"/>
              </a:spcBef>
              <a:buNone/>
            </a:pPr>
            <a:r>
              <a:rPr lang="en" sz="1600" b="1" dirty="0">
                <a:latin typeface="Cambria"/>
                <a:cs typeface="Cambria"/>
              </a:rPr>
              <a:t>Query: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with X as (select V.voterID, V.lname, V.fname, EV.electionID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from Voter as V left join ElectionVoter as EV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on V.voterID = EV.voterID)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select voterId, lname, fname, count(electionID) as ElectionsVotedIn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from X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group by voterID, lname, fname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having  count(electionID) &gt;=ALL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    	(select count(electionID)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    	from X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    	group by voterID)</a:t>
            </a:r>
          </a:p>
          <a:p>
            <a:pPr lvl="0">
              <a:spcBef>
                <a:spcPts val="0"/>
              </a:spcBef>
              <a:buClr>
                <a:schemeClr val="dk1"/>
              </a:buClr>
              <a:buFont typeface="Arial"/>
              <a:buNone/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order by lname;</a:t>
            </a:r>
          </a:p>
        </p:txBody>
      </p:sp>
      <p:pic>
        <p:nvPicPr>
          <p:cNvPr id="135" name="Shape 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8424" y="1861871"/>
            <a:ext cx="2801143" cy="64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Shape 136"/>
          <p:cNvPicPr preferRelativeResize="0"/>
          <p:nvPr/>
        </p:nvPicPr>
        <p:blipFill rotWithShape="1">
          <a:blip r:embed="rId4">
            <a:alphaModFix/>
          </a:blip>
          <a:srcRect l="20432" t="54189" r="63588" b="33948"/>
          <a:stretch/>
        </p:blipFill>
        <p:spPr>
          <a:xfrm>
            <a:off x="5378424" y="3483668"/>
            <a:ext cx="2841974" cy="124406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/>
          <p:cNvSpPr/>
          <p:nvPr/>
        </p:nvSpPr>
        <p:spPr>
          <a:xfrm>
            <a:off x="6156902" y="1475235"/>
            <a:ext cx="13260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u="sng" dirty="0" smtClean="0">
                <a:latin typeface="Cambria"/>
                <a:cs typeface="Cambria"/>
              </a:rPr>
              <a:t>Original Result</a:t>
            </a:r>
            <a:endParaRPr lang="en" u="sng" dirty="0">
              <a:latin typeface="Cambria"/>
              <a:cs typeface="Cambria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78504" y="2803723"/>
            <a:ext cx="2814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u="sng" dirty="0" smtClean="0">
                <a:latin typeface="Cambria"/>
                <a:cs typeface="Cambria"/>
              </a:rPr>
              <a:t>Result after removing most consistent Voter</a:t>
            </a:r>
            <a:endParaRPr lang="en" u="sng" dirty="0">
              <a:latin typeface="Cambria"/>
              <a:cs typeface="Cambria"/>
            </a:endParaRPr>
          </a:p>
        </p:txBody>
      </p:sp>
      <p:sp>
        <p:nvSpPr>
          <p:cNvPr id="12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8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5080000" y="2149812"/>
            <a:ext cx="3441700" cy="1778398"/>
          </a:xfrm>
          <a:prstGeom prst="rect">
            <a:avLst/>
          </a:prstGeom>
          <a:solidFill>
            <a:srgbClr val="008000">
              <a:alpha val="27000"/>
            </a:srgbClr>
          </a:solidFill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311700" y="980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Addressing Questions on Queries</a:t>
            </a:r>
            <a:endParaRPr lang="en" dirty="0"/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256024" y="5066700"/>
            <a:ext cx="8405376" cy="17024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b="1" dirty="0" smtClean="0">
                <a:latin typeface="Cambria"/>
                <a:cs typeface="Cambria"/>
              </a:rPr>
              <a:t>Q</a:t>
            </a:r>
            <a:r>
              <a:rPr lang="en" b="1" dirty="0">
                <a:latin typeface="Cambria"/>
                <a:cs typeface="Cambria"/>
              </a:rPr>
              <a:t>. </a:t>
            </a:r>
            <a:r>
              <a:rPr lang="en-US" b="1" dirty="0" smtClean="0">
                <a:latin typeface="Cambria"/>
                <a:cs typeface="Cambria"/>
              </a:rPr>
              <a:t> Does this really return the voter who “never voted”?</a:t>
            </a:r>
          </a:p>
          <a:p>
            <a:pPr lvl="0">
              <a:spcBef>
                <a:spcPts val="0"/>
              </a:spcBef>
              <a:buNone/>
            </a:pPr>
            <a:r>
              <a:rPr lang="en-US" b="1" dirty="0" smtClean="0">
                <a:latin typeface="Cambria"/>
                <a:cs typeface="Cambria"/>
              </a:rPr>
              <a:t>A.   No, it returns the voter/s who voted in the least number of elections. </a:t>
            </a:r>
            <a:endParaRPr lang="en" b="1" dirty="0">
              <a:latin typeface="Cambria"/>
              <a:cs typeface="Cambria"/>
            </a:endParaRPr>
          </a:p>
        </p:txBody>
      </p:sp>
      <p:sp>
        <p:nvSpPr>
          <p:cNvPr id="134" name="Shape 134"/>
          <p:cNvSpPr txBox="1"/>
          <p:nvPr/>
        </p:nvSpPr>
        <p:spPr>
          <a:xfrm>
            <a:off x="318999" y="905000"/>
            <a:ext cx="4608601" cy="9684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 b="1" dirty="0">
                <a:latin typeface="Cambria"/>
                <a:cs typeface="Cambria"/>
              </a:rPr>
              <a:t>AIM: </a:t>
            </a:r>
            <a:r>
              <a:rPr lang="en" sz="1600" dirty="0">
                <a:latin typeface="Cambria"/>
                <a:cs typeface="Cambria"/>
              </a:rPr>
              <a:t>Find the Voters who </a:t>
            </a:r>
            <a:r>
              <a:rPr lang="en-US" sz="1600" dirty="0">
                <a:latin typeface="Cambria"/>
                <a:cs typeface="Cambria"/>
              </a:rPr>
              <a:t> </a:t>
            </a:r>
            <a:r>
              <a:rPr lang="en-US" sz="1600" dirty="0" smtClean="0">
                <a:latin typeface="Cambria"/>
                <a:cs typeface="Cambria"/>
              </a:rPr>
              <a:t>“never” voted in an election</a:t>
            </a:r>
            <a:r>
              <a:rPr lang="en" sz="1600" dirty="0" smtClean="0">
                <a:latin typeface="Cambria"/>
                <a:cs typeface="Cambria"/>
              </a:rPr>
              <a:t> </a:t>
            </a:r>
            <a:endParaRPr sz="1600" dirty="0">
              <a:latin typeface="Cambria"/>
              <a:cs typeface="Cambria"/>
            </a:endParaRPr>
          </a:p>
          <a:p>
            <a:pPr lvl="0">
              <a:spcBef>
                <a:spcPts val="0"/>
              </a:spcBef>
              <a:buNone/>
            </a:pPr>
            <a:r>
              <a:rPr lang="en" sz="1600" b="1" dirty="0">
                <a:latin typeface="Cambria"/>
                <a:cs typeface="Cambria"/>
              </a:rPr>
              <a:t>Query:</a:t>
            </a: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with X as (select V.voterID, V.lname, V.fname, 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EV.electionID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from Voter as V left join ElectionVoter as 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EV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on V.voterID = EV.voterID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)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select voterId, lname, fname, count(electionID) as 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ElectionsVotedIn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from 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X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group by voterID, lname, 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fname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having  count(electionID) &lt;=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ALL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        (select count(electionID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)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        from 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X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        group by voterID</a:t>
            </a:r>
            <a:r>
              <a:rPr lang="en" sz="1600" dirty="0" smtClean="0">
                <a:solidFill>
                  <a:schemeClr val="dk1"/>
                </a:solidFill>
                <a:latin typeface="Cambria"/>
                <a:cs typeface="Cambria"/>
              </a:rPr>
              <a:t>)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  <a:p>
            <a:pPr lvl="0">
              <a:buClr>
                <a:schemeClr val="dk1"/>
              </a:buClr>
            </a:pPr>
            <a:r>
              <a:rPr lang="en" sz="1600" dirty="0">
                <a:solidFill>
                  <a:schemeClr val="dk1"/>
                </a:solidFill>
                <a:latin typeface="Cambria"/>
                <a:cs typeface="Cambria"/>
              </a:rPr>
              <a:t>order by lname</a:t>
            </a:r>
          </a:p>
        </p:txBody>
      </p:sp>
      <p:sp>
        <p:nvSpPr>
          <p:cNvPr id="2" name="Rectangle 1"/>
          <p:cNvSpPr/>
          <p:nvPr/>
        </p:nvSpPr>
        <p:spPr>
          <a:xfrm>
            <a:off x="6156902" y="2365629"/>
            <a:ext cx="132600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/>
            <a:r>
              <a:rPr lang="en-US" u="sng" dirty="0" smtClean="0">
                <a:latin typeface="Cambria"/>
                <a:cs typeface="Cambria"/>
              </a:rPr>
              <a:t>Original Result</a:t>
            </a:r>
            <a:endParaRPr lang="en" u="sng" dirty="0">
              <a:latin typeface="Cambria"/>
              <a:cs typeface="Cambria"/>
            </a:endParaRPr>
          </a:p>
        </p:txBody>
      </p:sp>
      <p:pic>
        <p:nvPicPr>
          <p:cNvPr id="10" name="image37.png"/>
          <p:cNvPicPr/>
          <p:nvPr/>
        </p:nvPicPr>
        <p:blipFill rotWithShape="1">
          <a:blip r:embed="rId3"/>
          <a:srcRect l="19965" t="54320" r="65373" b="39184"/>
          <a:stretch/>
        </p:blipFill>
        <p:spPr>
          <a:xfrm>
            <a:off x="5198347" y="2720835"/>
            <a:ext cx="3134032" cy="81455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9</a:t>
            </a:fld>
            <a:endParaRPr lang="e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07200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>
            <a:spLocks noGrp="1"/>
          </p:cNvSpPr>
          <p:nvPr>
            <p:ph type="title"/>
          </p:nvPr>
        </p:nvSpPr>
        <p:spPr>
          <a:xfrm>
            <a:off x="311700" y="98067"/>
            <a:ext cx="8520600" cy="7636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dirty="0" smtClean="0"/>
              <a:t>Addressing Questions on Queries</a:t>
            </a:r>
            <a:endParaRPr lang="en" dirty="0"/>
          </a:p>
        </p:txBody>
      </p:sp>
      <p:sp>
        <p:nvSpPr>
          <p:cNvPr id="133" name="Shape 133"/>
          <p:cNvSpPr txBox="1">
            <a:spLocks noGrp="1"/>
          </p:cNvSpPr>
          <p:nvPr>
            <p:ph type="body" idx="1"/>
          </p:nvPr>
        </p:nvSpPr>
        <p:spPr>
          <a:xfrm>
            <a:off x="256024" y="5207388"/>
            <a:ext cx="8405376" cy="12452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" b="1" dirty="0" smtClean="0">
                <a:latin typeface="Cambria"/>
                <a:cs typeface="Cambria"/>
              </a:rPr>
              <a:t>Q</a:t>
            </a:r>
            <a:r>
              <a:rPr lang="en" b="1" dirty="0">
                <a:latin typeface="Cambria"/>
                <a:cs typeface="Cambria"/>
              </a:rPr>
              <a:t>. </a:t>
            </a:r>
            <a:r>
              <a:rPr lang="en-US" b="1" dirty="0" smtClean="0">
                <a:latin typeface="Cambria"/>
                <a:cs typeface="Cambria"/>
              </a:rPr>
              <a:t> </a:t>
            </a:r>
            <a:r>
              <a:rPr lang="en" b="1" dirty="0" smtClean="0">
                <a:latin typeface="Cambria"/>
                <a:cs typeface="Cambria"/>
              </a:rPr>
              <a:t>What if </a:t>
            </a:r>
            <a:r>
              <a:rPr lang="en-US" b="1" dirty="0" smtClean="0">
                <a:latin typeface="Cambria"/>
                <a:cs typeface="Cambria"/>
              </a:rPr>
              <a:t>we removed </a:t>
            </a:r>
            <a:r>
              <a:rPr lang="en" b="1" dirty="0" smtClean="0">
                <a:latin typeface="Cambria"/>
                <a:cs typeface="Cambria"/>
              </a:rPr>
              <a:t>Volunteering.ElectionID</a:t>
            </a:r>
            <a:r>
              <a:rPr lang="en-US" b="1" dirty="0" smtClean="0">
                <a:latin typeface="Cambria"/>
                <a:cs typeface="Cambria"/>
              </a:rPr>
              <a:t> from the group by clause?</a:t>
            </a:r>
          </a:p>
          <a:p>
            <a:pPr lvl="0">
              <a:spcBef>
                <a:spcPts val="0"/>
              </a:spcBef>
              <a:buNone/>
            </a:pPr>
            <a:r>
              <a:rPr lang="en-US" b="1" dirty="0" smtClean="0">
                <a:latin typeface="Cambria"/>
                <a:cs typeface="Cambria"/>
              </a:rPr>
              <a:t>A.   We will get an error because we are selecting it, but not performing a function over it or grouping by it. </a:t>
            </a:r>
            <a:endParaRPr lang="en" b="1" dirty="0">
              <a:latin typeface="Cambria"/>
              <a:cs typeface="Cambria"/>
            </a:endParaRPr>
          </a:p>
        </p:txBody>
      </p:sp>
      <p:sp>
        <p:nvSpPr>
          <p:cNvPr id="134" name="Shape 134"/>
          <p:cNvSpPr txBox="1"/>
          <p:nvPr/>
        </p:nvSpPr>
        <p:spPr>
          <a:xfrm>
            <a:off x="318999" y="905000"/>
            <a:ext cx="4265701" cy="27145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spcAft>
                <a:spcPts val="600"/>
              </a:spcAft>
              <a:buNone/>
            </a:pPr>
            <a:r>
              <a:rPr lang="en" sz="1600" b="1" dirty="0">
                <a:latin typeface="Cambria"/>
                <a:cs typeface="Cambria"/>
              </a:rPr>
              <a:t>AIM: </a:t>
            </a:r>
            <a:r>
              <a:rPr lang="en-US" sz="1600" dirty="0" smtClean="0">
                <a:latin typeface="Cambria"/>
                <a:cs typeface="Cambria"/>
              </a:rPr>
              <a:t>Finding volunteers who volunteered at multiple elections</a:t>
            </a:r>
            <a:r>
              <a:rPr lang="en" sz="1600" dirty="0" smtClean="0">
                <a:latin typeface="Cambria"/>
                <a:cs typeface="Cambria"/>
              </a:rPr>
              <a:t>. </a:t>
            </a:r>
            <a:endParaRPr sz="1600" dirty="0">
              <a:latin typeface="Cambria"/>
              <a:cs typeface="Cambria"/>
            </a:endParaRPr>
          </a:p>
          <a:p>
            <a:pPr lvl="0">
              <a:spcBef>
                <a:spcPts val="0"/>
              </a:spcBef>
              <a:buNone/>
            </a:pPr>
            <a:r>
              <a:rPr lang="en-US" sz="1600" b="1" dirty="0" smtClean="0">
                <a:latin typeface="Cambria"/>
                <a:cs typeface="Cambria"/>
              </a:rPr>
              <a:t>Original </a:t>
            </a:r>
            <a:r>
              <a:rPr lang="en" sz="1600" b="1" dirty="0" smtClean="0">
                <a:latin typeface="Cambria"/>
                <a:cs typeface="Cambria"/>
              </a:rPr>
              <a:t>Query</a:t>
            </a:r>
            <a:r>
              <a:rPr lang="en" sz="1600" b="1" dirty="0">
                <a:latin typeface="Cambria"/>
                <a:cs typeface="Cambria"/>
              </a:rPr>
              <a:t>:</a:t>
            </a:r>
          </a:p>
          <a:p>
            <a:r>
              <a:rPr lang="en" sz="1600" dirty="0" smtClean="0">
                <a:latin typeface="Cambria"/>
                <a:cs typeface="Cambria"/>
              </a:rPr>
              <a:t>WITH alias as (</a:t>
            </a:r>
            <a:r>
              <a:rPr lang="en" sz="1600" b="1" dirty="0" smtClean="0">
                <a:latin typeface="Cambria"/>
                <a:cs typeface="Cambria"/>
              </a:rPr>
              <a:t>SELECT V.volunteerID, V.fname, V.lname, Volunteering.ElectionID</a:t>
            </a:r>
          </a:p>
          <a:p>
            <a:r>
              <a:rPr lang="en" sz="1600" b="1" dirty="0" smtClean="0">
                <a:latin typeface="Cambria"/>
                <a:cs typeface="Cambria"/>
              </a:rPr>
              <a:t>FROM Volunteer as V, Volunteering</a:t>
            </a:r>
          </a:p>
          <a:p>
            <a:r>
              <a:rPr lang="en" sz="1600" b="1" dirty="0" smtClean="0">
                <a:latin typeface="Cambria"/>
                <a:cs typeface="Cambria"/>
              </a:rPr>
              <a:t>WHERE V.volunteerID = Volunteering.VolunteerID</a:t>
            </a:r>
          </a:p>
          <a:p>
            <a:r>
              <a:rPr lang="en" sz="1600" b="1" dirty="0" smtClean="0">
                <a:latin typeface="Cambria"/>
                <a:cs typeface="Cambria"/>
              </a:rPr>
              <a:t>GROUP BY V.volunteerID, V.fname, V.lname, Volunteering.ElectionID</a:t>
            </a:r>
            <a:r>
              <a:rPr lang="en" sz="1600" dirty="0" smtClean="0">
                <a:latin typeface="Cambria"/>
                <a:cs typeface="Cambria"/>
              </a:rPr>
              <a:t>)</a:t>
            </a:r>
          </a:p>
          <a:p>
            <a:r>
              <a:rPr lang="en" sz="1600" dirty="0" smtClean="0">
                <a:latin typeface="Cambria"/>
                <a:cs typeface="Cambria"/>
              </a:rPr>
              <a:t>SELECT alias.volunteerID, alias.fname, alias.lname, count(alias.ElectionID) as MultElections</a:t>
            </a:r>
          </a:p>
          <a:p>
            <a:r>
              <a:rPr lang="en" sz="1600" dirty="0" smtClean="0">
                <a:latin typeface="Cambria"/>
                <a:cs typeface="Cambria"/>
              </a:rPr>
              <a:t>FROM alias</a:t>
            </a:r>
          </a:p>
          <a:p>
            <a:r>
              <a:rPr lang="en" sz="1600" dirty="0" smtClean="0">
                <a:latin typeface="Cambria"/>
                <a:cs typeface="Cambria"/>
              </a:rPr>
              <a:t>GROUP BY alias.volunteerID, alias.fname, alias.lname</a:t>
            </a:r>
          </a:p>
          <a:p>
            <a:r>
              <a:rPr lang="en" sz="1600" dirty="0" smtClean="0">
                <a:latin typeface="Cambria"/>
                <a:cs typeface="Cambria"/>
              </a:rPr>
              <a:t>HAVING count(alias.ElectionID) &gt; 1;</a:t>
            </a:r>
            <a:endParaRPr lang="en" sz="1600" dirty="0">
              <a:solidFill>
                <a:schemeClr val="dk1"/>
              </a:solidFill>
              <a:latin typeface="Cambri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219700" y="1557397"/>
            <a:ext cx="3747026" cy="2062103"/>
          </a:xfrm>
          <a:prstGeom prst="rect">
            <a:avLst/>
          </a:prstGeom>
          <a:solidFill>
            <a:srgbClr val="008000">
              <a:alpha val="24000"/>
            </a:srgbClr>
          </a:solidFill>
        </p:spPr>
        <p:txBody>
          <a:bodyPr wrap="square">
            <a:spAutoFit/>
          </a:bodyPr>
          <a:lstStyle/>
          <a:p>
            <a:r>
              <a:rPr lang="en" sz="1600" dirty="0">
                <a:latin typeface="Cambria"/>
                <a:cs typeface="Cambria"/>
              </a:rPr>
              <a:t>WITH alias as </a:t>
            </a:r>
            <a:r>
              <a:rPr lang="en" sz="1600" dirty="0" smtClean="0">
                <a:latin typeface="Cambria"/>
                <a:cs typeface="Cambria"/>
              </a:rPr>
              <a:t>(</a:t>
            </a:r>
            <a:r>
              <a:rPr lang="en" sz="1600" b="1" dirty="0">
                <a:latin typeface="Cambria"/>
                <a:cs typeface="Cambria"/>
              </a:rPr>
              <a:t>select Volunteering.volunteerID, Volunteering.ElectionID, V.lname, V.fname</a:t>
            </a:r>
          </a:p>
          <a:p>
            <a:r>
              <a:rPr lang="en" sz="1600" b="1" dirty="0">
                <a:latin typeface="Cambria"/>
                <a:cs typeface="Cambria"/>
              </a:rPr>
              <a:t>from volunteering left join volunteer as V</a:t>
            </a:r>
          </a:p>
          <a:p>
            <a:r>
              <a:rPr lang="en" sz="1600" b="1" dirty="0">
                <a:latin typeface="Cambria"/>
                <a:cs typeface="Cambria"/>
              </a:rPr>
              <a:t>on Volunteering.VolunteerID = V.VolunteerID</a:t>
            </a:r>
            <a:r>
              <a:rPr lang="en" sz="1600" dirty="0" smtClean="0">
                <a:latin typeface="Cambria"/>
                <a:cs typeface="Cambria"/>
              </a:rPr>
              <a:t>)</a:t>
            </a:r>
            <a:endParaRPr lang="en" sz="1600" dirty="0">
              <a:latin typeface="Cambria"/>
              <a:cs typeface="Cambria"/>
            </a:endParaRPr>
          </a:p>
        </p:txBody>
      </p:sp>
      <p:sp>
        <p:nvSpPr>
          <p:cNvPr id="5" name="Right Brace 4"/>
          <p:cNvSpPr/>
          <p:nvPr/>
        </p:nvSpPr>
        <p:spPr bwMode="auto">
          <a:xfrm>
            <a:off x="4584700" y="1828800"/>
            <a:ext cx="495300" cy="1625600"/>
          </a:xfrm>
          <a:prstGeom prst="rightBrace">
            <a:avLst/>
          </a:prstGeom>
          <a:solidFill>
            <a:srgbClr val="008000">
              <a:alpha val="12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45 Helvetica Light" pitchFamily="-110" charset="0"/>
              <a:ea typeface="Geneva" pitchFamily="-110" charset="-128"/>
              <a:cs typeface="Geneva" pitchFamily="-110" charset="-128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00800" y="3975100"/>
            <a:ext cx="1371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Efficient substitute </a:t>
            </a:r>
            <a:endParaRPr lang="en-US" b="1" dirty="0"/>
          </a:p>
        </p:txBody>
      </p:sp>
      <p:cxnSp>
        <p:nvCxnSpPr>
          <p:cNvPr id="9" name="Straight Arrow Connector 8"/>
          <p:cNvCxnSpPr/>
          <p:nvPr/>
        </p:nvCxnSpPr>
        <p:spPr bwMode="auto">
          <a:xfrm flipV="1">
            <a:off x="7086600" y="3657600"/>
            <a:ext cx="6613" cy="3556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1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10</a:t>
            </a:fld>
            <a:endParaRPr lang="en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6907200"/>
      </p:ext>
    </p:extLst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311700" y="2639200"/>
            <a:ext cx="8520600" cy="11224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r>
              <a:rPr lang="en" sz="4400" b="1" dirty="0"/>
              <a:t>Questions?</a:t>
            </a:r>
          </a:p>
        </p:txBody>
      </p:sp>
      <p:sp>
        <p:nvSpPr>
          <p:cNvPr id="5" name="Slide Number Placeholder 2"/>
          <p:cNvSpPr txBox="1">
            <a:spLocks/>
          </p:cNvSpPr>
          <p:nvPr/>
        </p:nvSpPr>
        <p:spPr>
          <a:xfrm>
            <a:off x="8722296" y="6312034"/>
            <a:ext cx="548700" cy="524800"/>
          </a:xfrm>
          <a:prstGeom prst="rect">
            <a:avLst/>
          </a:prstGeom>
        </p:spPr>
        <p:txBody>
          <a:bodyPr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>
                <a:solidFill>
                  <a:srgbClr val="FFFFFF"/>
                </a:solidFill>
              </a:rPr>
              <a:pPr/>
              <a:t>11</a:t>
            </a:fld>
            <a:endParaRPr lang="en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xmlns:p14="http://schemas.microsoft.com/office/powerpoint/2010/main" spd="slow">
    <p:cut/>
  </p:transition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UCC Theme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 Presentation">
      <a:majorFont>
        <a:latin typeface="Times"/>
        <a:ea typeface="Osaka"/>
        <a:cs typeface="Osaka"/>
      </a:majorFont>
      <a:minorFont>
        <a:latin typeface="75 Helvetica Bold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45 Helvetica Light" pitchFamily="-110" charset="0"/>
            <a:ea typeface="Geneva" pitchFamily="-110" charset="-128"/>
            <a:cs typeface="Geneva" pitchFamily="-11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45 Helvetica Light" pitchFamily="-110" charset="0"/>
            <a:ea typeface="Geneva" pitchFamily="-110" charset="-128"/>
            <a:cs typeface="Geneva" pitchFamily="-110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UCC Theme.thmx</Template>
  <TotalTime>43</TotalTime>
  <Words>572</Words>
  <Application>Microsoft Macintosh PowerPoint</Application>
  <PresentationFormat>On-screen Show (4:3)</PresentationFormat>
  <Paragraphs>125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UCC Theme</vt:lpstr>
      <vt:lpstr>Political Campaign Database</vt:lpstr>
      <vt:lpstr>Agenda</vt:lpstr>
      <vt:lpstr>Background</vt:lpstr>
      <vt:lpstr>ER Diagram</vt:lpstr>
      <vt:lpstr>Relational Schema</vt:lpstr>
      <vt:lpstr>Further Clarifications</vt:lpstr>
      <vt:lpstr>Queries and Their Uses</vt:lpstr>
      <vt:lpstr>Queries and Their Uses</vt:lpstr>
      <vt:lpstr>Addressing Questions on Queries</vt:lpstr>
      <vt:lpstr>Addressing Questions on Queries</vt:lpstr>
      <vt:lpstr>Addressing Questions on Queries</vt:lpstr>
      <vt:lpstr>Questions?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Political Campaign Database</dc:title>
  <cp:lastModifiedBy>Richa Mohan</cp:lastModifiedBy>
  <cp:revision>6</cp:revision>
  <dcterms:modified xsi:type="dcterms:W3CDTF">2016-04-19T01:56:04Z</dcterms:modified>
</cp:coreProperties>
</file>